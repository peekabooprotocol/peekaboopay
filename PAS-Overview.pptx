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2011680" cy="320040"/>
          </a:xfrm>
          <a:prstGeom prst="rect">
            <a:avLst>
              <a:gd name="adj" fmla="val 5714"/>
            </a:avLst>
          </a:prstGeom>
          <a:solidFill>
            <a:srgbClr val="12121C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SPEC v0.1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Agent Shell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Agent-agnostic privacy middleware for autonomous AI agents on Ethereum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291840"/>
            <a:ext cx="1997964" cy="320040"/>
          </a:xfrm>
          <a:prstGeom prst="rect">
            <a:avLst/>
          </a:prstGeom>
          <a:solidFill>
            <a:srgbClr val="22D3EE">
              <a:alpha val="10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91840"/>
            <a:ext cx="1997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Shielded Transactions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866644" y="3291840"/>
            <a:ext cx="1453896" cy="320040"/>
          </a:xfrm>
          <a:prstGeom prst="rect">
            <a:avLst/>
          </a:prstGeom>
          <a:solidFill>
            <a:srgbClr val="A78BFA">
              <a:alpha val="1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6644" y="3291840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ZK Credentials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57700" y="3291840"/>
            <a:ext cx="1920240" cy="320040"/>
          </a:xfrm>
          <a:prstGeom prst="rect">
            <a:avLst/>
          </a:prstGeom>
          <a:solidFill>
            <a:srgbClr val="F472B6">
              <a:alpha val="10000"/>
            </a:srgbClr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7700" y="3291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Selective Disclosure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515100" y="3291840"/>
            <a:ext cx="1764792" cy="320040"/>
          </a:xfrm>
          <a:prstGeom prst="rect">
            <a:avLst/>
          </a:prstGeom>
          <a:solidFill>
            <a:srgbClr val="FB923C">
              <a:alpha val="1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5100" y="3291840"/>
            <a:ext cx="1764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Pluggable Backends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280160" cy="12801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0" y="4846320"/>
            <a:ext cx="9144000" cy="9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Draft for Discussion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9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Financially Naked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657600" cy="137160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Transactions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6012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 an agent makes is visible on-chain. Competitors can front-run, copy strategies, or analyze spending patterns.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657600" cy="137160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Reuse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22402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reuse addresses, making their entire transaction history linkable. One lookup reveals all activity.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200400"/>
            <a:ext cx="3657600" cy="137160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4290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60120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can't prove reputation or compliance without revealing their full identity and transaction history.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4663440" y="3200400"/>
            <a:ext cx="3657600" cy="137160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4290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9496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Lock-in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892040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solutions today are tied to specific chains or agent frameworks. No universal middleware exists.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Middleware for Agents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4389120" cy="256032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@pas/sdk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023360" cy="9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14884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900" dirty="0">
                <a:solidFill>
                  <a:srgbClr val="E2E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PASClient } </a:t>
            </a:r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"@pas/sdk"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pPr indent="0" marL="0">
              <a:buNone/>
            </a:pPr>
            <a:r>
              <a:rPr lang="en-US" sz="900" dirty="0">
                <a:solidFill>
                  <a:srgbClr val="E2E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 = </a:t>
            </a:r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PASClient(backend)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pas.pay</a:t>
            </a:r>
            <a:pPr indent="0" marL="0">
              <a:buNone/>
            </a:pPr>
            <a:r>
              <a:rPr lang="en-US" sz="900" dirty="0">
                <a:solidFill>
                  <a:srgbClr val="E2E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to: recipient,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amount: 50n,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token: "USDC"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2E2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0" y="1554480"/>
            <a:ext cx="3108960" cy="73152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70992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172200" y="1627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Import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7220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 wraps all privacy complexity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423160"/>
            <a:ext cx="3108960" cy="73152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5786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2496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17220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Human-set rules agents can never override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0" y="3291840"/>
            <a:ext cx="3108960" cy="731520"/>
          </a:xfrm>
          <a:prstGeom prst="rect">
            <a:avLst/>
          </a:prstGeom>
          <a:solidFill>
            <a:srgbClr val="12121C"/>
          </a:solidFill>
          <a:ln w="6350">
            <a:solidFill>
              <a:srgbClr val="1A1A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44728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3364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Agnostic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 today, Aztec tomorrow, ETH L1 future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solidFill>
            <a:srgbClr val="4ADE80">
              <a:alpha val="8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31520" y="43434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call pas.pay() — shielding, proof generation, relay, and unshielding happen automatically.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Privacy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12121C"/>
          </a:solidFill>
          <a:ln w="6350">
            <a:solidFill>
              <a:srgbClr val="22D3EE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54864" cy="5486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216152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LAYER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framework, any model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17520" y="11887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 · LangChain · CrewAI · AutoGen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737360"/>
            <a:ext cx="18288" cy="109728"/>
          </a:xfrm>
          <a:prstGeom prst="rect">
            <a:avLst/>
          </a:prstGeom>
          <a:solidFill>
            <a:srgbClr val="22D3EE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847088"/>
            <a:ext cx="7680960" cy="548640"/>
          </a:xfrm>
          <a:prstGeom prst="rect">
            <a:avLst/>
          </a:prstGeom>
          <a:solidFill>
            <a:srgbClr val="12121C"/>
          </a:solidFill>
          <a:ln w="6350">
            <a:solidFill>
              <a:srgbClr val="A78BFA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847088"/>
            <a:ext cx="54864" cy="5486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874520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 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@pas/sdk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17520" y="184708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pay() · receive() · swap() · prove() · disclose()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395728"/>
            <a:ext cx="18288" cy="109728"/>
          </a:xfrm>
          <a:prstGeom prst="rect">
            <a:avLst/>
          </a:prstGeom>
          <a:solidFill>
            <a:srgbClr val="A78BFA">
              <a:alpha val="4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2505456"/>
            <a:ext cx="7680960" cy="548640"/>
          </a:xfrm>
          <a:prstGeom prst="rect">
            <a:avLst/>
          </a:prstGeom>
          <a:solidFill>
            <a:srgbClr val="12121C"/>
          </a:solidFill>
          <a:ln w="6350">
            <a:solidFill>
              <a:srgbClr val="F472B6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2505456"/>
            <a:ext cx="54864" cy="5486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253288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ENGINE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27797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orchestration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0" y="2505456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Shielded Treasury · Stealth Addresses · Credential Vault · Sessions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054096"/>
            <a:ext cx="18288" cy="109728"/>
          </a:xfrm>
          <a:prstGeom prst="rect">
            <a:avLst/>
          </a:prstGeom>
          <a:solidFill>
            <a:srgbClr val="F472B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3163824"/>
            <a:ext cx="7680960" cy="548640"/>
          </a:xfrm>
          <a:prstGeom prst="rect">
            <a:avLst/>
          </a:prstGeom>
          <a:solidFill>
            <a:srgbClr val="12121C"/>
          </a:solidFill>
          <a:ln w="6350">
            <a:solidFill>
              <a:srgbClr val="FB923C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163824"/>
            <a:ext cx="54864" cy="5486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191256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 PROTOCOL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3438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ZK backends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017520" y="3163824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 (live) · Aztec (Q1 2026) · ETH L1 (future)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3712464"/>
            <a:ext cx="18288" cy="109728"/>
          </a:xfrm>
          <a:prstGeom prst="rect">
            <a:avLst/>
          </a:prstGeom>
          <a:solidFill>
            <a:srgbClr val="FB923C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822192"/>
            <a:ext cx="7680960" cy="548640"/>
          </a:xfrm>
          <a:prstGeom prst="rect">
            <a:avLst/>
          </a:prstGeom>
          <a:solidFill>
            <a:srgbClr val="12121C"/>
          </a:solidFill>
          <a:ln w="6350">
            <a:solidFill>
              <a:srgbClr val="4ADE8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3822192"/>
            <a:ext cx="54864" cy="5486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3849624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SETTLEMENT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5840" y="4096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value moves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017520" y="3822192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L1 · Base / Arbitrum / Optimism · Relay Network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5262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fully decoupled — swap privacy backends, settlement chains, or agent frameworks independently.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PAS Makes Possible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12121C"/>
          </a:solidFill>
          <a:ln w="6350">
            <a:solidFill>
              <a:srgbClr val="F472B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411480"/>
          </a:xfrm>
          <a:prstGeom prst="rect">
            <a:avLst/>
          </a:prstGeom>
          <a:solidFill>
            <a:srgbClr val="F472B6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HIDDEN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true balance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amounts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↔ recipient link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0584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 / patterns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skills or APIs purchased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Agent's identity across sessions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12121C"/>
          </a:solidFill>
          <a:ln w="6350">
            <a:solidFill>
              <a:srgbClr val="4ADE8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solidFill>
            <a:srgbClr val="4ADE80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PROVABLE ON DEMAND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"Balance ≥ X" (not actual amount)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"Completed N+ tasks" (not details)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0" y="27797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"Audited by X" (not scope)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3163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"Compliant with policy Y"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0" y="35478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"Owns skill pack Z"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"Active for N months"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Plug 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3017520"/>
          </a:xfrm>
          <a:prstGeom prst="rect">
            <a:avLst/>
          </a:prstGeom>
          <a:solidFill>
            <a:srgbClr val="12121C"/>
          </a:solidFill>
          <a:ln w="6350">
            <a:solidFill>
              <a:srgbClr val="22D3E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44752" y="1691640"/>
            <a:ext cx="731520" cy="731520"/>
          </a:xfrm>
          <a:prstGeom prst="ellipse">
            <a:avLst/>
          </a:prstGeom>
          <a:solidFill>
            <a:srgbClr val="22D3EE">
              <a:alpha val="1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912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MCP-compatible agent discovers PAS tools automatically. Zero adapter code needed.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85800" y="3931920"/>
            <a:ext cx="2331720" cy="9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pas:shielded_pay · pas:prove_credential · pas:check_balance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3337560" y="1463040"/>
            <a:ext cx="2606040" cy="3017520"/>
          </a:xfrm>
          <a:prstGeom prst="rect">
            <a:avLst/>
          </a:prstGeom>
          <a:solidFill>
            <a:srgbClr val="12121C"/>
          </a:solidFill>
          <a:ln w="635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33672" y="1691640"/>
            <a:ext cx="731520" cy="731520"/>
          </a:xfrm>
          <a:prstGeom prst="ellipse">
            <a:avLst/>
          </a:prstGeom>
          <a:solidFill>
            <a:srgbClr val="A78BFA">
              <a:alpha val="15000"/>
            </a:srgbClr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1828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7472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SDK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474720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control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347472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@pas/sdk in any TypeScript agent. Full async API with type safety.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474720" y="3931920"/>
            <a:ext cx="2331720" cy="9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0" name="Text 16"/>
          <p:cNvSpPr/>
          <p:nvPr/>
        </p:nvSpPr>
        <p:spPr>
          <a:xfrm>
            <a:off x="342900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pas.pay() · pas.prove() · pas.disclose() · pas.setPolicy()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6126480" y="1463040"/>
            <a:ext cx="2606040" cy="3017520"/>
          </a:xfrm>
          <a:prstGeom prst="rect">
            <a:avLst/>
          </a:prstGeom>
          <a:solidFill>
            <a:srgbClr val="12121C"/>
          </a:solidFill>
          <a:ln w="6350">
            <a:solidFill>
              <a:srgbClr val="4ADE8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22592" y="1691640"/>
            <a:ext cx="731520" cy="731520"/>
          </a:xfrm>
          <a:prstGeom prst="ellipse">
            <a:avLst/>
          </a:prstGeom>
          <a:solidFill>
            <a:srgbClr val="4ADE80">
              <a:alpha val="15000"/>
            </a:srgbClr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752" y="1828800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606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Adapters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263640" y="288036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tools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263640" y="32004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wrappers for LangChain, CrewAI, and other agent frameworks.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263640" y="3931920"/>
            <a:ext cx="2331720" cy="9144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8" name="Text 23"/>
          <p:cNvSpPr/>
          <p:nvPr/>
        </p:nvSpPr>
        <p:spPr>
          <a:xfrm>
            <a:off x="621792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@pas/agent-langchain · @pas/agent-crewai</a:t>
            </a:r>
            <a:endParaRPr lang="en-US" sz="700" dirty="0"/>
          </a:p>
        </p:txBody>
      </p:sp>
      <p:sp>
        <p:nvSpPr>
          <p:cNvPr id="29" name="Text 24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Owns This Layer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280160"/>
            <a:ext cx="1645920" cy="384048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280160"/>
            <a:ext cx="1097280" cy="384048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8" name="Text 6"/>
          <p:cNvSpPr/>
          <p:nvPr/>
        </p:nvSpPr>
        <p:spPr>
          <a:xfrm>
            <a:off x="2377440" y="12801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1280160" cy="384048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1280160" cy="384048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280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SDK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914400" cy="384048"/>
          </a:xfrm>
          <a:prstGeom prst="rect">
            <a:avLst/>
          </a:prstGeom>
          <a:solidFill>
            <a:srgbClr val="161625"/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1280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Ethereum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1664208"/>
            <a:ext cx="164592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16642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(Coinbase)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1664208"/>
            <a:ext cx="109728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18" name="Text 16"/>
          <p:cNvSpPr/>
          <p:nvPr/>
        </p:nvSpPr>
        <p:spPr>
          <a:xfrm>
            <a:off x="2377440" y="16642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664208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1664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664208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66420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664208"/>
            <a:ext cx="91440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24" name="Text 22"/>
          <p:cNvSpPr/>
          <p:nvPr/>
        </p:nvSpPr>
        <p:spPr>
          <a:xfrm>
            <a:off x="6035040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048256"/>
            <a:ext cx="164592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04825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77440" y="2048256"/>
            <a:ext cx="109728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0" y="20482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0" y="2048256"/>
            <a:ext cx="128016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2048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ZK-SNARK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048256"/>
            <a:ext cx="128016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04825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2048256"/>
            <a:ext cx="91440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4" name="Text 32"/>
          <p:cNvSpPr/>
          <p:nvPr/>
        </p:nvSpPr>
        <p:spPr>
          <a:xfrm>
            <a:off x="6035040" y="20482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2432304"/>
            <a:ext cx="164592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243230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77440" y="2432304"/>
            <a:ext cx="109728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38" name="Text 36"/>
          <p:cNvSpPr/>
          <p:nvPr/>
        </p:nvSpPr>
        <p:spPr>
          <a:xfrm>
            <a:off x="2377440" y="24323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0" y="2432304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432304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243230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035040" y="2432304"/>
            <a:ext cx="91440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44" name="Text 42"/>
          <p:cNvSpPr/>
          <p:nvPr/>
        </p:nvSpPr>
        <p:spPr>
          <a:xfrm>
            <a:off x="6035040" y="243230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only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2816352"/>
            <a:ext cx="164592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28163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Shade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377440" y="2816352"/>
            <a:ext cx="109728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48" name="Text 46"/>
          <p:cNvSpPr/>
          <p:nvPr/>
        </p:nvSpPr>
        <p:spPr>
          <a:xfrm>
            <a:off x="2377440" y="28163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474720" y="2816352"/>
            <a:ext cx="128016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0" y="2816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TEE-based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2816352"/>
            <a:ext cx="128016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2816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35040" y="2816352"/>
            <a:ext cx="914400" cy="384048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54" name="Text 52"/>
          <p:cNvSpPr/>
          <p:nvPr/>
        </p:nvSpPr>
        <p:spPr>
          <a:xfrm>
            <a:off x="6035040" y="281635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31520" y="3200400"/>
            <a:ext cx="164592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56" name="Text 54"/>
          <p:cNvSpPr/>
          <p:nvPr/>
        </p:nvSpPr>
        <p:spPr>
          <a:xfrm>
            <a:off x="73152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377440" y="3200400"/>
            <a:ext cx="109728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58" name="Text 56"/>
          <p:cNvSpPr/>
          <p:nvPr/>
        </p:nvSpPr>
        <p:spPr>
          <a:xfrm>
            <a:off x="2377440" y="32004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474720" y="3200400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0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54880" y="3200400"/>
            <a:ext cx="128016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62" name="Text 60"/>
          <p:cNvSpPr/>
          <p:nvPr/>
        </p:nvSpPr>
        <p:spPr>
          <a:xfrm>
            <a:off x="4754880" y="32004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only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35040" y="3200400"/>
            <a:ext cx="914400" cy="384048"/>
          </a:xfrm>
          <a:prstGeom prst="rect">
            <a:avLst/>
          </a:prstGeom>
          <a:solidFill>
            <a:srgbClr val="12121C"/>
          </a:solidFill>
          <a:ln/>
        </p:spPr>
      </p:sp>
      <p:sp>
        <p:nvSpPr>
          <p:cNvPr id="64" name="Text 62"/>
          <p:cNvSpPr/>
          <p:nvPr/>
        </p:nvSpPr>
        <p:spPr>
          <a:xfrm>
            <a:off x="6035040" y="32004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A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31520" y="3584448"/>
            <a:ext cx="164592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358444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377440" y="3584448"/>
            <a:ext cx="109728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35844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474720" y="3584448"/>
            <a:ext cx="128016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474720" y="3584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 (pluggable)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754880" y="3584448"/>
            <a:ext cx="128016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54880" y="35844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035040" y="3584448"/>
            <a:ext cx="914400" cy="384048"/>
          </a:xfrm>
          <a:prstGeom prst="rect">
            <a:avLst/>
          </a:prstGeom>
          <a:solidFill>
            <a:srgbClr val="1A1A2E"/>
          </a:solidFill>
          <a:ln w="9525">
            <a:solidFill>
              <a:srgbClr val="4ADE8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035040" y="35844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040880" y="3584448"/>
            <a:ext cx="1188720" cy="384048"/>
          </a:xfrm>
          <a:prstGeom prst="rect">
            <a:avLst/>
          </a:prstGeom>
          <a:solidFill>
            <a:srgbClr val="4ADE80">
              <a:alpha val="15000"/>
            </a:srgbClr>
          </a:solidFill>
          <a:ln w="6350">
            <a:solidFill>
              <a:srgbClr val="4ADE8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40880" y="35844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THAT'S US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31520" y="4160520"/>
            <a:ext cx="7680960" cy="685800"/>
          </a:xfrm>
          <a:prstGeom prst="rect">
            <a:avLst/>
          </a:prstGeom>
          <a:solidFill>
            <a:srgbClr val="12121C"/>
          </a:solidFill>
          <a:ln w="6350">
            <a:solidFill>
              <a:srgbClr val="FB923C">
                <a:alpha val="50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05840" y="41605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1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is building pieces — payment rails, identity registries, privacy protocols, agent frameworks — but nobody is building the middleware that makes agents private by default across all of them.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Revenue Streams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1417320"/>
          </a:xfrm>
          <a:prstGeom prst="rect">
            <a:avLst/>
          </a:prstGeom>
          <a:solidFill>
            <a:srgbClr val="12121C"/>
          </a:solidFill>
          <a:ln w="6350">
            <a:solidFill>
              <a:srgbClr val="22D3EE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Fees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0.1-0.3%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601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on each gasless shielded transaction, taken from the shielded amount. Paid in the transaction token (USDC, ETH, etc.).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463040"/>
            <a:ext cx="3657600" cy="1417320"/>
          </a:xfrm>
          <a:prstGeom prst="rect">
            <a:avLst/>
          </a:prstGeom>
          <a:solidFill>
            <a:srgbClr val="12121C"/>
          </a:solidFill>
          <a:ln w="635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45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572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Minting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credential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8348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for creating and verifying ZK-provable credentials in the vault. Reputation, compliance, capability proofs.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31520" y="3108960"/>
            <a:ext cx="3657600" cy="1417320"/>
          </a:xfrm>
          <a:prstGeom prst="rect">
            <a:avLst/>
          </a:prstGeom>
          <a:solidFill>
            <a:srgbClr val="12121C"/>
          </a:solidFill>
          <a:ln w="6350">
            <a:solidFill>
              <a:srgbClr val="F472B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291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Policies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0876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96012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policy templates for enterprises. Compliance packs, audit trails, multi-sig approval flows.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108960"/>
            <a:ext cx="3657600" cy="1417320"/>
          </a:xfrm>
          <a:prstGeom prst="rect">
            <a:avLst/>
          </a:prstGeom>
          <a:solidFill>
            <a:srgbClr val="12121C"/>
          </a:solidFill>
          <a:ln w="6350">
            <a:solidFill>
              <a:srgbClr val="FB923C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291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Pack Curation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53212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share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98348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on curated privacy-audited skill bundles via OpenClaw marketplace integration.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&amp; What's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2880360"/>
          </a:xfrm>
          <a:prstGeom prst="rect">
            <a:avLst/>
          </a:prstGeom>
          <a:solidFill>
            <a:srgbClr val="12121C"/>
          </a:solidFill>
          <a:ln w="6350">
            <a:solidFill>
              <a:srgbClr val="4ADE8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411480"/>
          </a:xfrm>
          <a:prstGeom prst="rect">
            <a:avLst/>
          </a:prstGeom>
          <a:solidFill>
            <a:srgbClr val="4ADE80">
              <a:alpha val="1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(March 2026)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965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monorepo scaffold (10 packages)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definitions for all layers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architecture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public API (PASClient)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tool definitions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3337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privacy adapter stubs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3611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CrewAI adapters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3886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Docusaurus docs site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3657600" cy="2880360"/>
          </a:xfrm>
          <a:prstGeom prst="rect">
            <a:avLst/>
          </a:prstGeom>
          <a:solidFill>
            <a:srgbClr val="12121C"/>
          </a:solidFill>
          <a:ln w="6350">
            <a:solidFill>
              <a:srgbClr val="22D3EE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solidFill>
            <a:srgbClr val="22D3EE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MILESTONES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83480" y="19659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Railgun adapter implementation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2240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with rule evaluation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25146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shielded treasury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83480" y="27889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address derivation (ECDH)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runtime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33375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Testnet deployment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83480" y="36118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Aztec adapter (post-launch)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38862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88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</a:t>
            </a:r>
            <a:endParaRPr lang="en-US" sz="10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4572000"/>
            <a:ext cx="320040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292608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infrastructure for private AI agents doesn't exist yet. We're building it.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046720" y="4800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 — Private Agent Shell</dc:title>
  <dc:subject>PptxGenJS Presentation</dc:subject>
  <dc:creator>PAS Team</dc:creator>
  <cp:lastModifiedBy>PAS Team</cp:lastModifiedBy>
  <cp:revision>1</cp:revision>
  <dcterms:created xsi:type="dcterms:W3CDTF">2026-03-10T20:03:03Z</dcterms:created>
  <dcterms:modified xsi:type="dcterms:W3CDTF">2026-03-10T20:03:03Z</dcterms:modified>
</cp:coreProperties>
</file>